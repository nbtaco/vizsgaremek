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83" r:id="rId4"/>
    <p:sldId id="259" r:id="rId5"/>
    <p:sldId id="281" r:id="rId6"/>
    <p:sldId id="260" r:id="rId7"/>
    <p:sldId id="261" r:id="rId8"/>
    <p:sldId id="262" r:id="rId9"/>
    <p:sldId id="282" r:id="rId10"/>
    <p:sldId id="263" r:id="rId11"/>
    <p:sldId id="264" r:id="rId12"/>
    <p:sldId id="28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észáros Nándor" initials="MN" lastIdx="1" clrIdx="0">
    <p:extLst>
      <p:ext uri="{19B8F6BF-5375-455C-9EA6-DF929625EA0E}">
        <p15:presenceInfo xmlns:p15="http://schemas.microsoft.com/office/powerpoint/2012/main" userId="Mészáros Nánd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FFA"/>
    <a:srgbClr val="89B0FF"/>
    <a:srgbClr val="CCFFFF"/>
    <a:srgbClr val="B0DD7F"/>
    <a:srgbClr val="CDDEFF"/>
    <a:srgbClr val="E89746"/>
    <a:srgbClr val="DF7D1B"/>
    <a:srgbClr val="001132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205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7" d="100"/>
          <a:sy n="127" d="100"/>
        </p:scale>
        <p:origin x="6588" y="1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5E279355-896B-46DB-A108-F5187ACDD0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36D56E5-B8BA-49F1-9F8E-6CAF4EA8BE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C2F6A-A2B2-4070-8734-EA902C31BD22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4C3366E-16B5-48F4-B5CC-E7D4E39F6F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98FC57E-3632-42CC-A84F-738A734460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A4B05-3B6D-44B1-9397-0FF7B933C85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032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42E50-52BC-4F89-97BD-71183136B3C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F5DA6-6E0E-47BD-A733-F5191C99DB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9218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7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53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88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337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601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7841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018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168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0661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569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211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803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82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0538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432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6935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3192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3235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153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1981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073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2A05004-1549-4F16-8636-73AA1248AE03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4DF65AC-8D82-453B-B334-65F5D9AA31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4050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>
            <a:extLst>
              <a:ext uri="{FF2B5EF4-FFF2-40B4-BE49-F238E27FC236}">
                <a16:creationId xmlns:a16="http://schemas.microsoft.com/office/drawing/2014/main" id="{DAE07394-1225-4342-A30D-3223F21B8C1B}"/>
              </a:ext>
            </a:extLst>
          </p:cNvPr>
          <p:cNvSpPr/>
          <p:nvPr/>
        </p:nvSpPr>
        <p:spPr>
          <a:xfrm>
            <a:off x="8534400" y="0"/>
            <a:ext cx="3657600" cy="68580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E09CA2CD-9553-4522-BFFB-66C638EBAE15}"/>
              </a:ext>
            </a:extLst>
          </p:cNvPr>
          <p:cNvSpPr/>
          <p:nvPr/>
        </p:nvSpPr>
        <p:spPr>
          <a:xfrm>
            <a:off x="9906000" y="0"/>
            <a:ext cx="2286000" cy="68580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3F1B30B-B5FC-42E8-8ABA-FE006C3B6159}"/>
              </a:ext>
            </a:extLst>
          </p:cNvPr>
          <p:cNvSpPr/>
          <p:nvPr/>
        </p:nvSpPr>
        <p:spPr>
          <a:xfrm>
            <a:off x="454070" y="2344925"/>
            <a:ext cx="101574" cy="231633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FFB0BF5-A542-4E91-9618-6B0511AE1866}"/>
              </a:ext>
            </a:extLst>
          </p:cNvPr>
          <p:cNvSpPr/>
          <p:nvPr/>
        </p:nvSpPr>
        <p:spPr>
          <a:xfrm>
            <a:off x="555644" y="2344925"/>
            <a:ext cx="7646126" cy="857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NAMERO 1</a:t>
            </a:r>
            <a:endParaRPr lang="en-US" sz="8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75217562-2B5C-4953-B659-3425C547F25D}"/>
              </a:ext>
            </a:extLst>
          </p:cNvPr>
          <p:cNvSpPr/>
          <p:nvPr/>
        </p:nvSpPr>
        <p:spPr>
          <a:xfrm>
            <a:off x="637903" y="3239044"/>
            <a:ext cx="7646126" cy="536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Webshop alkalmazás</a:t>
            </a:r>
            <a:endParaRPr lang="en-US" sz="3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F695CC3-47BD-4B84-B7CF-9A4334D5F274}"/>
              </a:ext>
            </a:extLst>
          </p:cNvPr>
          <p:cNvSpPr/>
          <p:nvPr/>
        </p:nvSpPr>
        <p:spPr>
          <a:xfrm>
            <a:off x="637903" y="3803468"/>
            <a:ext cx="3740804" cy="428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Mészáros Nándor  •  Naményi Dominik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DB61CD3-C6DB-43D6-B3DF-374EBE79909E}"/>
              </a:ext>
            </a:extLst>
          </p:cNvPr>
          <p:cNvSpPr/>
          <p:nvPr/>
        </p:nvSpPr>
        <p:spPr>
          <a:xfrm>
            <a:off x="196889" y="6291657"/>
            <a:ext cx="4775161" cy="428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hu-HU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BMSzC</a:t>
            </a:r>
            <a:r>
              <a:rPr lang="hu-HU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Bolyai János Műszaki Technikum és Kollégium</a:t>
            </a:r>
            <a:endParaRPr lang="en-US" sz="14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522505B-38A1-4EEF-BB87-D0A0E72BFC40}"/>
              </a:ext>
            </a:extLst>
          </p:cNvPr>
          <p:cNvSpPr/>
          <p:nvPr/>
        </p:nvSpPr>
        <p:spPr>
          <a:xfrm>
            <a:off x="637903" y="4232366"/>
            <a:ext cx="2858778" cy="428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hu-HU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Vizsgakonzulens: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6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Szilasi</a:t>
            </a:r>
            <a:r>
              <a:rPr lang="hu-HU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István</a:t>
            </a:r>
            <a:endParaRPr lang="en-US" sz="16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856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692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projekt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01900" y="1383574"/>
            <a:ext cx="7158193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01899" y="1383574"/>
            <a:ext cx="7158193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4395" y="1373414"/>
            <a:ext cx="655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él</a:t>
            </a:r>
            <a:r>
              <a:rPr lang="hu-HU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kitűzések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19438" y="2064294"/>
            <a:ext cx="5953124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Teljes értékű webshop fejlesztése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Termékböngészés és keresés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Kosárkezelés valós időben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Rendelésfeladás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Admin </a:t>
            </a:r>
            <a:r>
              <a:rPr lang="en-US" sz="20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felület</a:t>
            </a:r>
            <a:r>
              <a:rPr lang="hu-HU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pPr marL="342900" indent="-3429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Hibamentes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biztonságos működés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692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Használt technológiák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61407" y="1457715"/>
            <a:ext cx="23164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61407" y="1457715"/>
            <a:ext cx="2316480" cy="219456"/>
          </a:xfrm>
          <a:prstGeom prst="rect">
            <a:avLst/>
          </a:prstGeom>
          <a:solidFill>
            <a:srgbClr val="68A063"/>
          </a:solidFill>
          <a:ln w="12700">
            <a:solidFill>
              <a:srgbClr val="68A06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711" y="1762515"/>
            <a:ext cx="426720" cy="426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02358" y="1842766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Node.js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83327" y="2195718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Szerver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futtatókörnyezet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88081" y="1449868"/>
            <a:ext cx="23164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89823" y="1449868"/>
            <a:ext cx="2316480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127" y="1754668"/>
            <a:ext cx="426720" cy="4267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30774" y="1827820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Express</a:t>
            </a:r>
          </a:p>
        </p:txBody>
      </p:sp>
      <p:sp>
        <p:nvSpPr>
          <p:cNvPr id="21" name="Text 17"/>
          <p:cNvSpPr/>
          <p:nvPr/>
        </p:nvSpPr>
        <p:spPr>
          <a:xfrm>
            <a:off x="4911743" y="2303308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HTTP szerver és RESTful API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keretrendszer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179199" y="1411260"/>
            <a:ext cx="23164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79199" y="1411260"/>
            <a:ext cx="2316480" cy="219456"/>
          </a:xfrm>
          <a:prstGeom prst="rect">
            <a:avLst/>
          </a:prstGeom>
          <a:solidFill>
            <a:srgbClr val="00618A"/>
          </a:solidFill>
          <a:ln w="12700">
            <a:solidFill>
              <a:srgbClr val="00618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145" y="1716060"/>
            <a:ext cx="426720" cy="4267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73272" y="180140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MySQL</a:t>
            </a:r>
          </a:p>
        </p:txBody>
      </p:sp>
      <p:sp>
        <p:nvSpPr>
          <p:cNvPr id="26" name="Text 21"/>
          <p:cNvSpPr/>
          <p:nvPr/>
        </p:nvSpPr>
        <p:spPr>
          <a:xfrm>
            <a:off x="8835825" y="1947708"/>
            <a:ext cx="158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323761" y="2264700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Relációs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adatbázis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8" name="Shape 23"/>
          <p:cNvSpPr/>
          <p:nvPr/>
        </p:nvSpPr>
        <p:spPr>
          <a:xfrm>
            <a:off x="1461407" y="4234452"/>
            <a:ext cx="23164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461407" y="4234452"/>
            <a:ext cx="2316480" cy="219456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7711" y="4539252"/>
            <a:ext cx="426720" cy="4267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095391" y="460973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</a:t>
            </a:r>
          </a:p>
        </p:txBody>
      </p:sp>
      <p:sp>
        <p:nvSpPr>
          <p:cNvPr id="33" name="Text 27"/>
          <p:cNvSpPr/>
          <p:nvPr/>
        </p:nvSpPr>
        <p:spPr>
          <a:xfrm>
            <a:off x="1583327" y="5087892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Frontend UI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könyvtár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4" name="Shape 28"/>
          <p:cNvSpPr/>
          <p:nvPr/>
        </p:nvSpPr>
        <p:spPr>
          <a:xfrm>
            <a:off x="4831624" y="4218758"/>
            <a:ext cx="23164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831624" y="4218758"/>
            <a:ext cx="2316480" cy="219456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7928" y="4523558"/>
            <a:ext cx="426720" cy="4267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483896" y="4584518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TypeScript</a:t>
            </a:r>
          </a:p>
        </p:txBody>
      </p:sp>
      <p:sp>
        <p:nvSpPr>
          <p:cNvPr id="39" name="Text 32"/>
          <p:cNvSpPr/>
          <p:nvPr/>
        </p:nvSpPr>
        <p:spPr>
          <a:xfrm>
            <a:off x="4953544" y="5072198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Típusbiztos JavaScript </a:t>
            </a:r>
          </a:p>
        </p:txBody>
      </p:sp>
      <p:sp>
        <p:nvSpPr>
          <p:cNvPr id="40" name="Shape 33"/>
          <p:cNvSpPr/>
          <p:nvPr/>
        </p:nvSpPr>
        <p:spPr>
          <a:xfrm>
            <a:off x="8201841" y="4178844"/>
            <a:ext cx="23164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201841" y="4178844"/>
            <a:ext cx="2316480" cy="219456"/>
          </a:xfrm>
          <a:prstGeom prst="rect">
            <a:avLst/>
          </a:prstGeom>
          <a:solidFill>
            <a:srgbClr val="D63AFF"/>
          </a:solidFill>
          <a:ln w="12700">
            <a:solidFill>
              <a:srgbClr val="D63AFF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145" y="4483644"/>
            <a:ext cx="426720" cy="4267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835825" y="454460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JWT</a:t>
            </a:r>
          </a:p>
        </p:txBody>
      </p:sp>
      <p:sp>
        <p:nvSpPr>
          <p:cNvPr id="45" name="Text 37"/>
          <p:cNvSpPr/>
          <p:nvPr/>
        </p:nvSpPr>
        <p:spPr>
          <a:xfrm>
            <a:off x="8323761" y="5032284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Hitelesítési token </a:t>
            </a:r>
          </a:p>
        </p:txBody>
      </p:sp>
    </p:spTree>
    <p:extLst>
      <p:ext uri="{BB962C8B-B14F-4D97-AF65-F5344CB8AC3E}">
        <p14:creationId xmlns:p14="http://schemas.microsoft.com/office/powerpoint/2010/main" val="131505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Adatbázis –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Táblastruktúra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1376" y="1280160"/>
            <a:ext cx="3657600" cy="249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1376" y="1280160"/>
            <a:ext cx="3657600" cy="463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96" y="1280160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users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3568" y="1743456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67840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user_id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26336" y="1767840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INT AUTO_INCREMENT PK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" y="2097024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</a:p>
        </p:txBody>
      </p:sp>
      <p:sp>
        <p:nvSpPr>
          <p:cNvPr id="13" name="Text 11"/>
          <p:cNvSpPr/>
          <p:nvPr/>
        </p:nvSpPr>
        <p:spPr>
          <a:xfrm>
            <a:off x="1926336" y="2097024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VARCHAR(255) UNIQUE</a:t>
            </a:r>
          </a:p>
        </p:txBody>
      </p:sp>
      <p:sp>
        <p:nvSpPr>
          <p:cNvPr id="14" name="Shape 12"/>
          <p:cNvSpPr/>
          <p:nvPr/>
        </p:nvSpPr>
        <p:spPr>
          <a:xfrm>
            <a:off x="353568" y="2401824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816" y="2426208"/>
            <a:ext cx="1414272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200" b="1" dirty="0">
                <a:solidFill>
                  <a:srgbClr val="2563EB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</a:t>
            </a:r>
            <a:r>
              <a:rPr lang="en-US" sz="12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assword</a:t>
            </a:r>
            <a:r>
              <a:rPr lang="hu-HU" sz="12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hu-HU" sz="12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</a:t>
            </a:r>
            <a:endParaRPr lang="en-US" sz="1200" b="1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26336" y="2426208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VARCHAR(255)</a:t>
            </a:r>
          </a:p>
        </p:txBody>
      </p:sp>
      <p:sp>
        <p:nvSpPr>
          <p:cNvPr id="17" name="Text 15"/>
          <p:cNvSpPr/>
          <p:nvPr/>
        </p:nvSpPr>
        <p:spPr>
          <a:xfrm>
            <a:off x="438912" y="2755392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</a:p>
        </p:txBody>
      </p:sp>
      <p:sp>
        <p:nvSpPr>
          <p:cNvPr id="18" name="Text 16"/>
          <p:cNvSpPr/>
          <p:nvPr/>
        </p:nvSpPr>
        <p:spPr>
          <a:xfrm>
            <a:off x="1926336" y="2755392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VARCHAR(100)</a:t>
            </a:r>
          </a:p>
        </p:txBody>
      </p:sp>
      <p:sp>
        <p:nvSpPr>
          <p:cNvPr id="19" name="Shape 17"/>
          <p:cNvSpPr/>
          <p:nvPr/>
        </p:nvSpPr>
        <p:spPr>
          <a:xfrm>
            <a:off x="353568" y="3060192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84576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33" dirty="0"/>
          </a:p>
        </p:txBody>
      </p:sp>
      <p:sp>
        <p:nvSpPr>
          <p:cNvPr id="21" name="Text 19"/>
          <p:cNvSpPr/>
          <p:nvPr/>
        </p:nvSpPr>
        <p:spPr>
          <a:xfrm>
            <a:off x="1926336" y="3084576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ENUM('</a:t>
            </a:r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user','admin</a:t>
            </a: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')</a:t>
            </a:r>
          </a:p>
        </p:txBody>
      </p:sp>
      <p:sp>
        <p:nvSpPr>
          <p:cNvPr id="23" name="Text 21"/>
          <p:cNvSpPr/>
          <p:nvPr/>
        </p:nvSpPr>
        <p:spPr>
          <a:xfrm>
            <a:off x="1926336" y="3413760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4145280" y="1280160"/>
            <a:ext cx="3657600" cy="249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45280" y="1280160"/>
            <a:ext cx="3657600" cy="4632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67200" y="1280160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</a:p>
        </p:txBody>
      </p:sp>
      <p:sp>
        <p:nvSpPr>
          <p:cNvPr id="27" name="Shape 25"/>
          <p:cNvSpPr/>
          <p:nvPr/>
        </p:nvSpPr>
        <p:spPr>
          <a:xfrm>
            <a:off x="4157472" y="1743456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42816" y="1767840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200" b="1" dirty="0">
                <a:solidFill>
                  <a:srgbClr val="0EA5E9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product_id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730240" y="1767840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AUTO_INCREMENT PK</a:t>
            </a:r>
          </a:p>
        </p:txBody>
      </p:sp>
      <p:sp>
        <p:nvSpPr>
          <p:cNvPr id="30" name="Text 28"/>
          <p:cNvSpPr/>
          <p:nvPr/>
        </p:nvSpPr>
        <p:spPr>
          <a:xfrm>
            <a:off x="4242816" y="2097024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EA5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product_name</a:t>
            </a:r>
            <a:endParaRPr lang="en-US" sz="1200" b="1" dirty="0">
              <a:solidFill>
                <a:srgbClr val="0EA5E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30240" y="2097024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VARCHAR(200)</a:t>
            </a:r>
          </a:p>
        </p:txBody>
      </p:sp>
      <p:sp>
        <p:nvSpPr>
          <p:cNvPr id="32" name="Shape 30"/>
          <p:cNvSpPr/>
          <p:nvPr/>
        </p:nvSpPr>
        <p:spPr>
          <a:xfrm>
            <a:off x="4157472" y="2401824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42816" y="2426208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EA5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34" name="Text 32"/>
          <p:cNvSpPr/>
          <p:nvPr/>
        </p:nvSpPr>
        <p:spPr>
          <a:xfrm>
            <a:off x="5730240" y="2426208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DECIMAL(10,2)</a:t>
            </a:r>
          </a:p>
        </p:txBody>
      </p:sp>
      <p:sp>
        <p:nvSpPr>
          <p:cNvPr id="35" name="Text 33"/>
          <p:cNvSpPr/>
          <p:nvPr/>
        </p:nvSpPr>
        <p:spPr>
          <a:xfrm>
            <a:off x="4242816" y="2755392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EA5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</a:t>
            </a:r>
          </a:p>
        </p:txBody>
      </p:sp>
      <p:sp>
        <p:nvSpPr>
          <p:cNvPr id="36" name="Text 34"/>
          <p:cNvSpPr/>
          <p:nvPr/>
        </p:nvSpPr>
        <p:spPr>
          <a:xfrm>
            <a:off x="5730240" y="2755392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</a:p>
        </p:txBody>
      </p:sp>
      <p:sp>
        <p:nvSpPr>
          <p:cNvPr id="37" name="Shape 35"/>
          <p:cNvSpPr/>
          <p:nvPr/>
        </p:nvSpPr>
        <p:spPr>
          <a:xfrm>
            <a:off x="4157472" y="3060192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42816" y="3084576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EA5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image_url</a:t>
            </a:r>
            <a:endParaRPr lang="en-US" sz="1200" b="1" dirty="0">
              <a:solidFill>
                <a:srgbClr val="0EA5E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730240" y="3084576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VARCHAR(500)</a:t>
            </a:r>
          </a:p>
        </p:txBody>
      </p:sp>
      <p:sp>
        <p:nvSpPr>
          <p:cNvPr id="40" name="Text 38"/>
          <p:cNvSpPr/>
          <p:nvPr/>
        </p:nvSpPr>
        <p:spPr>
          <a:xfrm>
            <a:off x="4242816" y="3413760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EA5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</p:txBody>
      </p:sp>
      <p:sp>
        <p:nvSpPr>
          <p:cNvPr id="41" name="Text 39"/>
          <p:cNvSpPr/>
          <p:nvPr/>
        </p:nvSpPr>
        <p:spPr>
          <a:xfrm>
            <a:off x="5730240" y="3413760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42" name="Shape 40"/>
          <p:cNvSpPr/>
          <p:nvPr/>
        </p:nvSpPr>
        <p:spPr>
          <a:xfrm>
            <a:off x="7949184" y="1280160"/>
            <a:ext cx="3657600" cy="249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949184" y="1280160"/>
            <a:ext cx="3657600" cy="463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71104" y="1280160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</a:p>
        </p:txBody>
      </p:sp>
      <p:sp>
        <p:nvSpPr>
          <p:cNvPr id="45" name="Shape 43"/>
          <p:cNvSpPr/>
          <p:nvPr/>
        </p:nvSpPr>
        <p:spPr>
          <a:xfrm>
            <a:off x="7961376" y="1743456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1767840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200" b="1" dirty="0" err="1">
                <a:solidFill>
                  <a:srgbClr val="8B5C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category_id</a:t>
            </a:r>
            <a:endParaRPr lang="en-US" sz="1200" b="1" dirty="0">
              <a:solidFill>
                <a:srgbClr val="8B5C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534144" y="1767840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AUTO_INCREMENT PK</a:t>
            </a:r>
          </a:p>
        </p:txBody>
      </p:sp>
      <p:sp>
        <p:nvSpPr>
          <p:cNvPr id="48" name="Text 46"/>
          <p:cNvSpPr/>
          <p:nvPr/>
        </p:nvSpPr>
        <p:spPr>
          <a:xfrm>
            <a:off x="8046720" y="2097024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8B5CF6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category_name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534144" y="2097024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VARCHAR(100) UNIQUE</a:t>
            </a:r>
          </a:p>
        </p:txBody>
      </p:sp>
      <p:sp>
        <p:nvSpPr>
          <p:cNvPr id="50" name="Shape 48"/>
          <p:cNvSpPr/>
          <p:nvPr/>
        </p:nvSpPr>
        <p:spPr>
          <a:xfrm>
            <a:off x="341376" y="3950208"/>
            <a:ext cx="3657600" cy="249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41376" y="3950208"/>
            <a:ext cx="3657600" cy="463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3296" y="3950208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belong</a:t>
            </a:r>
            <a:r>
              <a:rPr lang="hu-H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53568" y="4413504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437888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category_id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926336" y="4437888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FK → categories</a:t>
            </a:r>
          </a:p>
        </p:txBody>
      </p:sp>
      <p:sp>
        <p:nvSpPr>
          <p:cNvPr id="56" name="Text 54"/>
          <p:cNvSpPr/>
          <p:nvPr/>
        </p:nvSpPr>
        <p:spPr>
          <a:xfrm>
            <a:off x="438912" y="4767072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200" b="1" dirty="0" err="1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en-US" sz="1133" b="1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</a:t>
            </a:r>
            <a:endParaRPr lang="en-US" sz="1133" dirty="0"/>
          </a:p>
        </p:txBody>
      </p:sp>
      <p:sp>
        <p:nvSpPr>
          <p:cNvPr id="57" name="Text 55"/>
          <p:cNvSpPr/>
          <p:nvPr/>
        </p:nvSpPr>
        <p:spPr>
          <a:xfrm>
            <a:off x="1926336" y="4767072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FK → products</a:t>
            </a:r>
          </a:p>
        </p:txBody>
      </p:sp>
      <p:sp>
        <p:nvSpPr>
          <p:cNvPr id="58" name="Shape 56"/>
          <p:cNvSpPr/>
          <p:nvPr/>
        </p:nvSpPr>
        <p:spPr>
          <a:xfrm>
            <a:off x="4157472" y="3950208"/>
            <a:ext cx="3657600" cy="249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145280" y="3950208"/>
            <a:ext cx="3657600" cy="463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67200" y="3950208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orders</a:t>
            </a:r>
          </a:p>
        </p:txBody>
      </p:sp>
      <p:sp>
        <p:nvSpPr>
          <p:cNvPr id="61" name="Shape 59"/>
          <p:cNvSpPr/>
          <p:nvPr/>
        </p:nvSpPr>
        <p:spPr>
          <a:xfrm>
            <a:off x="4157472" y="4413504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42816" y="4437888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order_id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730240" y="4437888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AUTO_INCREMENT PK</a:t>
            </a:r>
          </a:p>
        </p:txBody>
      </p:sp>
      <p:sp>
        <p:nvSpPr>
          <p:cNvPr id="64" name="Text 62"/>
          <p:cNvSpPr/>
          <p:nvPr/>
        </p:nvSpPr>
        <p:spPr>
          <a:xfrm>
            <a:off x="4242816" y="4767072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endParaRPr lang="en-US" sz="1200" b="1" dirty="0">
              <a:solidFill>
                <a:srgbClr val="10B9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730240" y="4767072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FK → users</a:t>
            </a:r>
          </a:p>
        </p:txBody>
      </p:sp>
      <p:sp>
        <p:nvSpPr>
          <p:cNvPr id="66" name="Shape 64"/>
          <p:cNvSpPr/>
          <p:nvPr/>
        </p:nvSpPr>
        <p:spPr>
          <a:xfrm>
            <a:off x="4157472" y="5071872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42816" y="5096256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</a:p>
        </p:txBody>
      </p:sp>
      <p:sp>
        <p:nvSpPr>
          <p:cNvPr id="68" name="Text 66"/>
          <p:cNvSpPr/>
          <p:nvPr/>
        </p:nvSpPr>
        <p:spPr>
          <a:xfrm>
            <a:off x="5730240" y="5096256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ENUM(…)</a:t>
            </a:r>
          </a:p>
        </p:txBody>
      </p:sp>
      <p:sp>
        <p:nvSpPr>
          <p:cNvPr id="69" name="Text 67"/>
          <p:cNvSpPr/>
          <p:nvPr/>
        </p:nvSpPr>
        <p:spPr>
          <a:xfrm>
            <a:off x="4242816" y="5425440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total_price</a:t>
            </a:r>
            <a:endParaRPr lang="en-US" sz="1200" b="1" dirty="0">
              <a:solidFill>
                <a:srgbClr val="10B9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730240" y="5425440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DECIMAL(10,2)</a:t>
            </a:r>
          </a:p>
        </p:txBody>
      </p:sp>
      <p:sp>
        <p:nvSpPr>
          <p:cNvPr id="71" name="Shape 69"/>
          <p:cNvSpPr/>
          <p:nvPr/>
        </p:nvSpPr>
        <p:spPr>
          <a:xfrm>
            <a:off x="4157472" y="5730240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42816" y="5754624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created_at</a:t>
            </a:r>
            <a:endParaRPr lang="en-US" sz="1200" b="1" dirty="0">
              <a:solidFill>
                <a:srgbClr val="10B9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5730240" y="5754624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</p:txBody>
      </p:sp>
      <p:sp>
        <p:nvSpPr>
          <p:cNvPr id="74" name="Text 72"/>
          <p:cNvSpPr/>
          <p:nvPr/>
        </p:nvSpPr>
        <p:spPr>
          <a:xfrm>
            <a:off x="4267200" y="6108192"/>
            <a:ext cx="13411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billing_nam</a:t>
            </a:r>
            <a:r>
              <a:rPr lang="hu-HU" sz="12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e, </a:t>
            </a: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75" name="Text 73"/>
          <p:cNvSpPr/>
          <p:nvPr/>
        </p:nvSpPr>
        <p:spPr>
          <a:xfrm>
            <a:off x="5730240" y="6083808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számlázási</a:t>
            </a: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adatok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949184" y="3950208"/>
            <a:ext cx="3657600" cy="249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949184" y="3950208"/>
            <a:ext cx="3657600" cy="463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71104" y="3950208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</a:t>
            </a:r>
            <a:r>
              <a:rPr lang="hu-H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r_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</a:p>
        </p:txBody>
      </p:sp>
      <p:sp>
        <p:nvSpPr>
          <p:cNvPr id="79" name="Shape 77"/>
          <p:cNvSpPr/>
          <p:nvPr/>
        </p:nvSpPr>
        <p:spPr>
          <a:xfrm>
            <a:off x="7961376" y="4413504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46720" y="4437888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200" b="1" dirty="0">
                <a:solidFill>
                  <a:srgbClr val="EF4444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order_id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9534144" y="4437888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FK → orders</a:t>
            </a:r>
          </a:p>
        </p:txBody>
      </p:sp>
      <p:sp>
        <p:nvSpPr>
          <p:cNvPr id="82" name="Text 80"/>
          <p:cNvSpPr/>
          <p:nvPr/>
        </p:nvSpPr>
        <p:spPr>
          <a:xfrm>
            <a:off x="8046720" y="4767072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200" b="1" dirty="0" err="1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endParaRPr lang="en-US" sz="1200" b="1" dirty="0">
              <a:solidFill>
                <a:srgbClr val="EF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9534144" y="4767072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FK → products</a:t>
            </a:r>
          </a:p>
        </p:txBody>
      </p:sp>
      <p:sp>
        <p:nvSpPr>
          <p:cNvPr id="84" name="Shape 82"/>
          <p:cNvSpPr/>
          <p:nvPr/>
        </p:nvSpPr>
        <p:spPr>
          <a:xfrm>
            <a:off x="7961376" y="5071872"/>
            <a:ext cx="363321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46720" y="5096256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quantity</a:t>
            </a:r>
          </a:p>
        </p:txBody>
      </p:sp>
      <p:sp>
        <p:nvSpPr>
          <p:cNvPr id="86" name="Text 84"/>
          <p:cNvSpPr/>
          <p:nvPr/>
        </p:nvSpPr>
        <p:spPr>
          <a:xfrm>
            <a:off x="9534144" y="5096256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</a:p>
        </p:txBody>
      </p:sp>
      <p:sp>
        <p:nvSpPr>
          <p:cNvPr id="87" name="Text 85"/>
          <p:cNvSpPr/>
          <p:nvPr/>
        </p:nvSpPr>
        <p:spPr>
          <a:xfrm>
            <a:off x="8046720" y="5425440"/>
            <a:ext cx="1463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subtotal</a:t>
            </a:r>
          </a:p>
        </p:txBody>
      </p:sp>
      <p:sp>
        <p:nvSpPr>
          <p:cNvPr id="88" name="Text 86"/>
          <p:cNvSpPr/>
          <p:nvPr/>
        </p:nvSpPr>
        <p:spPr>
          <a:xfrm>
            <a:off x="9534144" y="5425440"/>
            <a:ext cx="20116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DECIMAL(10,2)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Fő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funkciók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4800" y="1428206"/>
            <a:ext cx="221894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4800" y="1428206"/>
            <a:ext cx="2218944" cy="609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513550"/>
            <a:ext cx="426720" cy="426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489166"/>
            <a:ext cx="16093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Felhasználókezelés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800" y="2154102"/>
            <a:ext cx="1975104" cy="21965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Regisztráció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email +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jelszó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)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Bejelentkezés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tokennel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Szerepkör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user / admin</a:t>
            </a:r>
          </a:p>
        </p:txBody>
      </p:sp>
      <p:sp>
        <p:nvSpPr>
          <p:cNvPr id="11" name="Shape 8"/>
          <p:cNvSpPr/>
          <p:nvPr/>
        </p:nvSpPr>
        <p:spPr>
          <a:xfrm>
            <a:off x="2621280" y="1428206"/>
            <a:ext cx="221894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21280" y="1428206"/>
            <a:ext cx="2218944" cy="609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372" y="1513550"/>
            <a:ext cx="426720" cy="4267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30880" y="1489166"/>
            <a:ext cx="15361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Termékkatalógus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596896" y="2338252"/>
            <a:ext cx="2023872" cy="2012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Termékek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listázása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és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szűrése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Kategória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rendszer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lang="hu-HU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Képfeltöltés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Keresés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terméknévre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937760" y="1428206"/>
            <a:ext cx="221894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37760" y="1428206"/>
            <a:ext cx="2218944" cy="609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090" y="1513550"/>
            <a:ext cx="426720" cy="426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47360" y="1489166"/>
            <a:ext cx="15361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Kosárkezelés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937760" y="2206897"/>
            <a:ext cx="2194560" cy="2444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Termék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hozzáadása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kosárhoz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Mennyiség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módosítása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Tétel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törlése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Készlet-ellenőrzés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valós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időben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254240" y="1428206"/>
            <a:ext cx="221894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254240" y="1428206"/>
            <a:ext cx="2218944" cy="609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3968" y="1513550"/>
            <a:ext cx="426720" cy="4267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63840" y="1489166"/>
            <a:ext cx="15361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Rendeléskezelés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254494" y="1940270"/>
            <a:ext cx="2072640" cy="227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leadás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Rendelések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követése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Saját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rendelések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megtekintése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9570720" y="1428206"/>
            <a:ext cx="221894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570720" y="1428206"/>
            <a:ext cx="2218944" cy="609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5810" y="1513550"/>
            <a:ext cx="426720" cy="4267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180320" y="1489166"/>
            <a:ext cx="15361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9570720" y="2325988"/>
            <a:ext cx="1975104" cy="2749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ategória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hozzáadás,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törlés</a:t>
            </a:r>
            <a:endParaRPr lang="hu-HU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Termékek kezelése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Összes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Rendelési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státusz</a:t>
            </a:r>
            <a:endParaRPr lang="hu-HU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Admin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hozzáférés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token-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alapú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Működés – Bejelentkezés &amp; JWT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hitelesítés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596933"/>
            <a:ext cx="1706880" cy="20289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7680" y="1596933"/>
            <a:ext cx="1706880" cy="56736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755430"/>
            <a:ext cx="158044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r>
              <a:rPr lang="hu-HU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</a:t>
            </a:r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Bejelentkezési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kérés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2523526"/>
            <a:ext cx="15804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POST /login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182368" y="2358934"/>
            <a:ext cx="17701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57983" y="2212630"/>
            <a:ext cx="252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563EB"/>
                </a:solidFill>
              </a:rPr>
              <a:t>▶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2371344" y="1594388"/>
            <a:ext cx="1706880" cy="2031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377440" y="1596934"/>
            <a:ext cx="1706880" cy="56736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38400" y="1731587"/>
            <a:ext cx="158044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r>
              <a:rPr lang="hu-HU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</a:t>
            </a:r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Jelszó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ellenőrzés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421636" y="2538982"/>
            <a:ext cx="16341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bcrypt.compare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18" name="Shape 14"/>
          <p:cNvSpPr/>
          <p:nvPr/>
        </p:nvSpPr>
        <p:spPr>
          <a:xfrm>
            <a:off x="4072128" y="2358934"/>
            <a:ext cx="17701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047743" y="2212630"/>
            <a:ext cx="252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563EB"/>
                </a:solidFill>
              </a:rPr>
              <a:t>▶</a:t>
            </a:r>
            <a:endParaRPr lang="en-US" sz="1333" dirty="0"/>
          </a:p>
        </p:txBody>
      </p:sp>
      <p:sp>
        <p:nvSpPr>
          <p:cNvPr id="20" name="Shape 16"/>
          <p:cNvSpPr/>
          <p:nvPr/>
        </p:nvSpPr>
        <p:spPr>
          <a:xfrm>
            <a:off x="4267200" y="1596933"/>
            <a:ext cx="1706880" cy="20289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267200" y="1596934"/>
            <a:ext cx="1706880" cy="56736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28160" y="1734282"/>
            <a:ext cx="158044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r>
              <a:rPr lang="hu-HU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JWT token</a:t>
            </a:r>
          </a:p>
          <a:p>
            <a:pPr algn="ctr"/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generálás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328160" y="2523526"/>
            <a:ext cx="15804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jwt.sign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961888" y="2358934"/>
            <a:ext cx="17701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937503" y="2212630"/>
            <a:ext cx="252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563EB"/>
                </a:solidFill>
              </a:rPr>
              <a:t>▶</a:t>
            </a:r>
            <a:endParaRPr lang="en-US" sz="1333" dirty="0"/>
          </a:p>
        </p:txBody>
      </p:sp>
      <p:sp>
        <p:nvSpPr>
          <p:cNvPr id="27" name="Shape 22"/>
          <p:cNvSpPr/>
          <p:nvPr/>
        </p:nvSpPr>
        <p:spPr>
          <a:xfrm>
            <a:off x="6169152" y="1596926"/>
            <a:ext cx="1706880" cy="20289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156960" y="1596934"/>
            <a:ext cx="1706880" cy="56736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217920" y="1746502"/>
            <a:ext cx="158044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r>
              <a:rPr lang="hu-HU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Token</a:t>
            </a:r>
          </a:p>
          <a:p>
            <a:pPr algn="ctr"/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tárolás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217920" y="2523526"/>
            <a:ext cx="15804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7851648" y="2358934"/>
            <a:ext cx="17701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827263" y="2212630"/>
            <a:ext cx="252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563EB"/>
                </a:solidFill>
              </a:rPr>
              <a:t>▶</a:t>
            </a:r>
            <a:endParaRPr lang="en-US" sz="1333" dirty="0"/>
          </a:p>
        </p:txBody>
      </p:sp>
      <p:sp>
        <p:nvSpPr>
          <p:cNvPr id="34" name="Shape 28"/>
          <p:cNvSpPr/>
          <p:nvPr/>
        </p:nvSpPr>
        <p:spPr>
          <a:xfrm>
            <a:off x="8046720" y="1596933"/>
            <a:ext cx="1706880" cy="202890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046720" y="1596934"/>
            <a:ext cx="1706880" cy="56736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107680" y="1771404"/>
            <a:ext cx="158044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r>
            <a:r>
              <a:rPr lang="hu-HU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</a:t>
            </a:r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Védett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végpont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kérés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8107680" y="2523526"/>
            <a:ext cx="15804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Authoriz</a:t>
            </a:r>
            <a:r>
              <a:rPr lang="hu-HU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9741408" y="2358934"/>
            <a:ext cx="17701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717023" y="2212630"/>
            <a:ext cx="252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563EB"/>
                </a:solidFill>
              </a:rPr>
              <a:t>▶</a:t>
            </a:r>
            <a:endParaRPr lang="en-US" sz="1333" dirty="0"/>
          </a:p>
        </p:txBody>
      </p:sp>
      <p:sp>
        <p:nvSpPr>
          <p:cNvPr id="41" name="Shape 34"/>
          <p:cNvSpPr/>
          <p:nvPr/>
        </p:nvSpPr>
        <p:spPr>
          <a:xfrm>
            <a:off x="9936480" y="1596933"/>
            <a:ext cx="1706880" cy="202890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9936480" y="1596933"/>
            <a:ext cx="1706880" cy="56736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9997440" y="1746502"/>
            <a:ext cx="158044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</a:t>
            </a:r>
            <a:r>
              <a:rPr lang="hu-HU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Token</a:t>
            </a:r>
          </a:p>
          <a:p>
            <a:pPr algn="ctr"/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visszafejtés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9997440" y="2523526"/>
            <a:ext cx="15804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jwt.verify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46" name="Shape 38"/>
          <p:cNvSpPr/>
          <p:nvPr/>
        </p:nvSpPr>
        <p:spPr>
          <a:xfrm>
            <a:off x="487680" y="4187180"/>
            <a:ext cx="11155680" cy="21880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87680" y="4032122"/>
            <a:ext cx="11155680" cy="646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64784" y="4096453"/>
            <a:ext cx="10803395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szerkezete</a:t>
            </a:r>
            <a:endParaRPr lang="en-US" sz="1733" dirty="0"/>
          </a:p>
        </p:txBody>
      </p:sp>
      <p:sp>
        <p:nvSpPr>
          <p:cNvPr id="49" name="Shape 41"/>
          <p:cNvSpPr/>
          <p:nvPr/>
        </p:nvSpPr>
        <p:spPr>
          <a:xfrm>
            <a:off x="654679" y="4785160"/>
            <a:ext cx="998140" cy="3901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71042" y="4776576"/>
            <a:ext cx="9981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654679" y="5274602"/>
            <a:ext cx="35228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{ "alg": "HS256", "typ": "JWT" }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4344523" y="4793515"/>
            <a:ext cx="998140" cy="390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4344523" y="4793515"/>
            <a:ext cx="9981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Payload</a:t>
            </a:r>
          </a:p>
        </p:txBody>
      </p:sp>
      <p:sp>
        <p:nvSpPr>
          <p:cNvPr id="54" name="Text 46"/>
          <p:cNvSpPr/>
          <p:nvPr/>
        </p:nvSpPr>
        <p:spPr>
          <a:xfrm>
            <a:off x="4385912" y="5281195"/>
            <a:ext cx="35228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 "user_id": 42, "role": "admin", "iat": 1735000000 }</a:t>
            </a:r>
          </a:p>
        </p:txBody>
      </p:sp>
      <p:sp>
        <p:nvSpPr>
          <p:cNvPr id="55" name="Shape 47"/>
          <p:cNvSpPr/>
          <p:nvPr/>
        </p:nvSpPr>
        <p:spPr>
          <a:xfrm>
            <a:off x="7993941" y="4785160"/>
            <a:ext cx="998140" cy="3901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993941" y="4785160"/>
            <a:ext cx="9981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Signature</a:t>
            </a:r>
          </a:p>
        </p:txBody>
      </p:sp>
      <p:sp>
        <p:nvSpPr>
          <p:cNvPr id="57" name="Text 49"/>
          <p:cNvSpPr/>
          <p:nvPr/>
        </p:nvSpPr>
        <p:spPr>
          <a:xfrm>
            <a:off x="8035330" y="5272840"/>
            <a:ext cx="35228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HMAC-SHA256( Data, </a:t>
            </a:r>
            <a:r>
              <a:rPr lang="hu-HU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Működés –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Képfeltölté</a:t>
            </a:r>
            <a:r>
              <a:rPr lang="hu-HU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680E09D0-77AD-41CF-9E96-2537FA30B102}"/>
              </a:ext>
            </a:extLst>
          </p:cNvPr>
          <p:cNvSpPr/>
          <p:nvPr/>
        </p:nvSpPr>
        <p:spPr>
          <a:xfrm>
            <a:off x="1589313" y="1280160"/>
            <a:ext cx="9013372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26D3F0C1-1621-4A3C-ABA7-CE97A183AA9C}"/>
              </a:ext>
            </a:extLst>
          </p:cNvPr>
          <p:cNvSpPr/>
          <p:nvPr/>
        </p:nvSpPr>
        <p:spPr>
          <a:xfrm>
            <a:off x="1589313" y="1280160"/>
            <a:ext cx="9013372" cy="493085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9861E1EE-0564-4B3F-815E-1B91171579AE}"/>
              </a:ext>
            </a:extLst>
          </p:cNvPr>
          <p:cNvSpPr/>
          <p:nvPr/>
        </p:nvSpPr>
        <p:spPr>
          <a:xfrm>
            <a:off x="2193827" y="1268039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Képfeltöltés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folyamata</a:t>
            </a:r>
            <a:endParaRPr lang="en-US" sz="20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2BFB9A09-82FA-4F76-97FA-A9355581851A}"/>
              </a:ext>
            </a:extLst>
          </p:cNvPr>
          <p:cNvSpPr/>
          <p:nvPr/>
        </p:nvSpPr>
        <p:spPr>
          <a:xfrm>
            <a:off x="2924640" y="2002261"/>
            <a:ext cx="642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Admin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kiválaszt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egy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képfájlt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frontend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űrlapon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(form-data)</a:t>
            </a:r>
          </a:p>
        </p:txBody>
      </p:sp>
      <p:sp>
        <p:nvSpPr>
          <p:cNvPr id="64" name="Text 36">
            <a:extLst>
              <a:ext uri="{FF2B5EF4-FFF2-40B4-BE49-F238E27FC236}">
                <a16:creationId xmlns:a16="http://schemas.microsoft.com/office/drawing/2014/main" id="{0E2FF215-815F-49A9-A2B2-BF41FF0CDA5F}"/>
              </a:ext>
            </a:extLst>
          </p:cNvPr>
          <p:cNvSpPr/>
          <p:nvPr/>
        </p:nvSpPr>
        <p:spPr>
          <a:xfrm>
            <a:off x="2924640" y="2587477"/>
            <a:ext cx="6803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</a:t>
            </a:r>
            <a:r>
              <a:rPr lang="en-US" sz="11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POST /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/items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kérés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fájl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+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termékadatok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küldése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507EC54D-2C59-475A-B799-7CA76EC1219E}"/>
              </a:ext>
            </a:extLst>
          </p:cNvPr>
          <p:cNvSpPr/>
          <p:nvPr/>
        </p:nvSpPr>
        <p:spPr>
          <a:xfrm>
            <a:off x="2924639" y="3172693"/>
            <a:ext cx="658190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Multer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middleware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fogadja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fájlt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ideiglenes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helyre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menti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70" name="Text 42">
            <a:extLst>
              <a:ext uri="{FF2B5EF4-FFF2-40B4-BE49-F238E27FC236}">
                <a16:creationId xmlns:a16="http://schemas.microsoft.com/office/drawing/2014/main" id="{70EBBF10-8248-4EAB-B209-3DBDE512A307}"/>
              </a:ext>
            </a:extLst>
          </p:cNvPr>
          <p:cNvSpPr/>
          <p:nvPr/>
        </p:nvSpPr>
        <p:spPr>
          <a:xfrm>
            <a:off x="2924640" y="3757909"/>
            <a:ext cx="72350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Backend INSERT INTO products →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productId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kap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vissza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73" name="Text 45">
            <a:extLst>
              <a:ext uri="{FF2B5EF4-FFF2-40B4-BE49-F238E27FC236}">
                <a16:creationId xmlns:a16="http://schemas.microsoft.com/office/drawing/2014/main" id="{DBE16FF7-C2C0-4C59-B691-A9DEF3DBEC74}"/>
              </a:ext>
            </a:extLst>
          </p:cNvPr>
          <p:cNvSpPr/>
          <p:nvPr/>
        </p:nvSpPr>
        <p:spPr>
          <a:xfrm>
            <a:off x="2924639" y="4343125"/>
            <a:ext cx="734863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Fájl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átnevezése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{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productId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}.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→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kepek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mappába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másolva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76" name="Text 48">
            <a:extLst>
              <a:ext uri="{FF2B5EF4-FFF2-40B4-BE49-F238E27FC236}">
                <a16:creationId xmlns:a16="http://schemas.microsoft.com/office/drawing/2014/main" id="{65F8727C-1A3A-4ECF-A5A4-78C69088A1E4}"/>
              </a:ext>
            </a:extLst>
          </p:cNvPr>
          <p:cNvSpPr/>
          <p:nvPr/>
        </p:nvSpPr>
        <p:spPr>
          <a:xfrm>
            <a:off x="2924639" y="4928341"/>
            <a:ext cx="616729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image_url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frissítése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../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kepek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/{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productId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}.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→ DB UPDATE</a:t>
            </a:r>
          </a:p>
        </p:txBody>
      </p:sp>
      <p:sp>
        <p:nvSpPr>
          <p:cNvPr id="79" name="Text 51">
            <a:extLst>
              <a:ext uri="{FF2B5EF4-FFF2-40B4-BE49-F238E27FC236}">
                <a16:creationId xmlns:a16="http://schemas.microsoft.com/office/drawing/2014/main" id="{D013FD86-5AB2-41AF-943F-BD30DB2835AC}"/>
              </a:ext>
            </a:extLst>
          </p:cNvPr>
          <p:cNvSpPr/>
          <p:nvPr/>
        </p:nvSpPr>
        <p:spPr>
          <a:xfrm>
            <a:off x="2924639" y="5513557"/>
            <a:ext cx="6099143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Frontend /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kepek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statikus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endpoint-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ról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tölti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be a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képet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pic>
        <p:nvPicPr>
          <p:cNvPr id="81" name="Image 0" descr="preencoded.png">
            <a:extLst>
              <a:ext uri="{FF2B5EF4-FFF2-40B4-BE49-F238E27FC236}">
                <a16:creationId xmlns:a16="http://schemas.microsoft.com/office/drawing/2014/main" id="{FA16DD60-1211-4789-989E-93FA11752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290" y="1333017"/>
            <a:ext cx="365760" cy="365760"/>
          </a:xfrm>
          <a:prstGeom prst="rect">
            <a:avLst/>
          </a:prstGeom>
        </p:spPr>
      </p:pic>
      <p:sp>
        <p:nvSpPr>
          <p:cNvPr id="83" name="Shape 7">
            <a:extLst>
              <a:ext uri="{FF2B5EF4-FFF2-40B4-BE49-F238E27FC236}">
                <a16:creationId xmlns:a16="http://schemas.microsoft.com/office/drawing/2014/main" id="{863A0D43-CA74-43CF-A1BB-A376C5D2606B}"/>
              </a:ext>
            </a:extLst>
          </p:cNvPr>
          <p:cNvSpPr/>
          <p:nvPr/>
        </p:nvSpPr>
        <p:spPr>
          <a:xfrm>
            <a:off x="2280169" y="1974276"/>
            <a:ext cx="341376" cy="34137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4" name="Text 8">
            <a:extLst>
              <a:ext uri="{FF2B5EF4-FFF2-40B4-BE49-F238E27FC236}">
                <a16:creationId xmlns:a16="http://schemas.microsoft.com/office/drawing/2014/main" id="{6BC95CA7-5F67-4309-8A09-5AF958D39446}"/>
              </a:ext>
            </a:extLst>
          </p:cNvPr>
          <p:cNvSpPr/>
          <p:nvPr/>
        </p:nvSpPr>
        <p:spPr>
          <a:xfrm>
            <a:off x="2280169" y="1974276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5" name="Shape 10">
            <a:extLst>
              <a:ext uri="{FF2B5EF4-FFF2-40B4-BE49-F238E27FC236}">
                <a16:creationId xmlns:a16="http://schemas.microsoft.com/office/drawing/2014/main" id="{610792F9-55AD-48A5-85C1-9195F47F0C1F}"/>
              </a:ext>
            </a:extLst>
          </p:cNvPr>
          <p:cNvSpPr/>
          <p:nvPr/>
        </p:nvSpPr>
        <p:spPr>
          <a:xfrm>
            <a:off x="2280169" y="2559492"/>
            <a:ext cx="341376" cy="3413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4544CA92-7945-4B4D-9986-953CEDF7E502}"/>
              </a:ext>
            </a:extLst>
          </p:cNvPr>
          <p:cNvSpPr/>
          <p:nvPr/>
        </p:nvSpPr>
        <p:spPr>
          <a:xfrm>
            <a:off x="2280169" y="255949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87" name="Shape 13">
            <a:extLst>
              <a:ext uri="{FF2B5EF4-FFF2-40B4-BE49-F238E27FC236}">
                <a16:creationId xmlns:a16="http://schemas.microsoft.com/office/drawing/2014/main" id="{9041E0B7-2F5F-42B2-9A21-26AACF265DAA}"/>
              </a:ext>
            </a:extLst>
          </p:cNvPr>
          <p:cNvSpPr/>
          <p:nvPr/>
        </p:nvSpPr>
        <p:spPr>
          <a:xfrm>
            <a:off x="2280169" y="3144708"/>
            <a:ext cx="341376" cy="3413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8" name="Text 14">
            <a:extLst>
              <a:ext uri="{FF2B5EF4-FFF2-40B4-BE49-F238E27FC236}">
                <a16:creationId xmlns:a16="http://schemas.microsoft.com/office/drawing/2014/main" id="{4C5C4396-A579-4A91-AED8-3660A5ECAF2A}"/>
              </a:ext>
            </a:extLst>
          </p:cNvPr>
          <p:cNvSpPr/>
          <p:nvPr/>
        </p:nvSpPr>
        <p:spPr>
          <a:xfrm>
            <a:off x="2280169" y="314470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89" name="Shape 16">
            <a:extLst>
              <a:ext uri="{FF2B5EF4-FFF2-40B4-BE49-F238E27FC236}">
                <a16:creationId xmlns:a16="http://schemas.microsoft.com/office/drawing/2014/main" id="{61AC21AA-AADD-47E6-B869-8C660FF4A083}"/>
              </a:ext>
            </a:extLst>
          </p:cNvPr>
          <p:cNvSpPr/>
          <p:nvPr/>
        </p:nvSpPr>
        <p:spPr>
          <a:xfrm>
            <a:off x="2280169" y="3729924"/>
            <a:ext cx="341376" cy="34137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0" name="Text 17">
            <a:extLst>
              <a:ext uri="{FF2B5EF4-FFF2-40B4-BE49-F238E27FC236}">
                <a16:creationId xmlns:a16="http://schemas.microsoft.com/office/drawing/2014/main" id="{0D46C938-6918-4070-BF98-354631D5B76F}"/>
              </a:ext>
            </a:extLst>
          </p:cNvPr>
          <p:cNvSpPr/>
          <p:nvPr/>
        </p:nvSpPr>
        <p:spPr>
          <a:xfrm>
            <a:off x="2280169" y="3729924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91" name="Shape 19">
            <a:extLst>
              <a:ext uri="{FF2B5EF4-FFF2-40B4-BE49-F238E27FC236}">
                <a16:creationId xmlns:a16="http://schemas.microsoft.com/office/drawing/2014/main" id="{CFB3DF47-57D4-4FEE-84FF-F4D45D54F0AE}"/>
              </a:ext>
            </a:extLst>
          </p:cNvPr>
          <p:cNvSpPr/>
          <p:nvPr/>
        </p:nvSpPr>
        <p:spPr>
          <a:xfrm>
            <a:off x="2280169" y="4315140"/>
            <a:ext cx="341376" cy="3413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54472BD3-978D-4CDA-9C3E-3A8D48FEE873}"/>
              </a:ext>
            </a:extLst>
          </p:cNvPr>
          <p:cNvSpPr/>
          <p:nvPr/>
        </p:nvSpPr>
        <p:spPr>
          <a:xfrm>
            <a:off x="2280169" y="431514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93" name="Shape 22">
            <a:extLst>
              <a:ext uri="{FF2B5EF4-FFF2-40B4-BE49-F238E27FC236}">
                <a16:creationId xmlns:a16="http://schemas.microsoft.com/office/drawing/2014/main" id="{9BA993B1-2402-483E-B93E-9AA48858AE17}"/>
              </a:ext>
            </a:extLst>
          </p:cNvPr>
          <p:cNvSpPr/>
          <p:nvPr/>
        </p:nvSpPr>
        <p:spPr>
          <a:xfrm>
            <a:off x="2280169" y="4900356"/>
            <a:ext cx="341376" cy="3413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4" name="Text 23">
            <a:extLst>
              <a:ext uri="{FF2B5EF4-FFF2-40B4-BE49-F238E27FC236}">
                <a16:creationId xmlns:a16="http://schemas.microsoft.com/office/drawing/2014/main" id="{A97E257B-603C-434C-A075-C87495B57A30}"/>
              </a:ext>
            </a:extLst>
          </p:cNvPr>
          <p:cNvSpPr/>
          <p:nvPr/>
        </p:nvSpPr>
        <p:spPr>
          <a:xfrm>
            <a:off x="2280169" y="4900356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95" name="Shape 25">
            <a:extLst>
              <a:ext uri="{FF2B5EF4-FFF2-40B4-BE49-F238E27FC236}">
                <a16:creationId xmlns:a16="http://schemas.microsoft.com/office/drawing/2014/main" id="{ABBAB641-7201-4CF1-BF7E-28B7C4B44B62}"/>
              </a:ext>
            </a:extLst>
          </p:cNvPr>
          <p:cNvSpPr/>
          <p:nvPr/>
        </p:nvSpPr>
        <p:spPr>
          <a:xfrm>
            <a:off x="2280169" y="5485572"/>
            <a:ext cx="341376" cy="34137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6" name="Text 26">
            <a:extLst>
              <a:ext uri="{FF2B5EF4-FFF2-40B4-BE49-F238E27FC236}">
                <a16:creationId xmlns:a16="http://schemas.microsoft.com/office/drawing/2014/main" id="{5732187D-E145-4F1B-A262-FE8CA08108CB}"/>
              </a:ext>
            </a:extLst>
          </p:cNvPr>
          <p:cNvSpPr/>
          <p:nvPr/>
        </p:nvSpPr>
        <p:spPr>
          <a:xfrm>
            <a:off x="2280169" y="548557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Működés – </a:t>
            </a:r>
            <a:r>
              <a:rPr lang="en-US" sz="2933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Kosárkezelés</a:t>
            </a:r>
            <a:endParaRPr lang="en-US" sz="2933" dirty="0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6BB56A18-D580-42DE-B092-71EFF92BA98C}"/>
              </a:ext>
            </a:extLst>
          </p:cNvPr>
          <p:cNvSpPr/>
          <p:nvPr/>
        </p:nvSpPr>
        <p:spPr>
          <a:xfrm>
            <a:off x="1731066" y="1261110"/>
            <a:ext cx="9013372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7E164678-9302-4799-9FCF-E63F9769D2D7}"/>
              </a:ext>
            </a:extLst>
          </p:cNvPr>
          <p:cNvSpPr/>
          <p:nvPr/>
        </p:nvSpPr>
        <p:spPr>
          <a:xfrm>
            <a:off x="1731065" y="1261110"/>
            <a:ext cx="9013372" cy="487680"/>
          </a:xfrm>
          <a:prstGeom prst="rect">
            <a:avLst/>
          </a:prstGeom>
          <a:solidFill>
            <a:srgbClr val="E89746"/>
          </a:solidFill>
          <a:ln w="12700">
            <a:solidFill>
              <a:srgbClr val="E89746"/>
            </a:solidFill>
            <a:prstDash val="solid"/>
          </a:ln>
        </p:spPr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3A9D23EB-CBF1-42F2-AEAC-09F28815C267}"/>
              </a:ext>
            </a:extLst>
          </p:cNvPr>
          <p:cNvSpPr/>
          <p:nvPr/>
        </p:nvSpPr>
        <p:spPr>
          <a:xfrm>
            <a:off x="2284779" y="1243513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Kosárkezelés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folyamata</a:t>
            </a:r>
            <a:endParaRPr lang="en-US" sz="20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0" name="Shape 31">
            <a:extLst>
              <a:ext uri="{FF2B5EF4-FFF2-40B4-BE49-F238E27FC236}">
                <a16:creationId xmlns:a16="http://schemas.microsoft.com/office/drawing/2014/main" id="{AD002E2F-7249-432B-84FD-4672A60338DB}"/>
              </a:ext>
            </a:extLst>
          </p:cNvPr>
          <p:cNvSpPr/>
          <p:nvPr/>
        </p:nvSpPr>
        <p:spPr>
          <a:xfrm>
            <a:off x="2426464" y="1977806"/>
            <a:ext cx="341376" cy="3413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77DB06E8-8398-4190-BC07-4179B3F2A4FC}"/>
              </a:ext>
            </a:extLst>
          </p:cNvPr>
          <p:cNvSpPr/>
          <p:nvPr/>
        </p:nvSpPr>
        <p:spPr>
          <a:xfrm>
            <a:off x="2426464" y="1965614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7B10D5EB-E611-491A-A361-4B09B02FE1AA}"/>
              </a:ext>
            </a:extLst>
          </p:cNvPr>
          <p:cNvSpPr/>
          <p:nvPr/>
        </p:nvSpPr>
        <p:spPr>
          <a:xfrm>
            <a:off x="3066392" y="1977806"/>
            <a:ext cx="583572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Felhasználó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Kosárba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"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gombot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nyom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→ POST /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/cart</a:t>
            </a:r>
          </a:p>
        </p:txBody>
      </p:sp>
      <p:sp>
        <p:nvSpPr>
          <p:cNvPr id="63" name="Shape 34">
            <a:extLst>
              <a:ext uri="{FF2B5EF4-FFF2-40B4-BE49-F238E27FC236}">
                <a16:creationId xmlns:a16="http://schemas.microsoft.com/office/drawing/2014/main" id="{E5430CFD-080D-4AB5-8195-C469993B78F9}"/>
              </a:ext>
            </a:extLst>
          </p:cNvPr>
          <p:cNvSpPr/>
          <p:nvPr/>
        </p:nvSpPr>
        <p:spPr>
          <a:xfrm>
            <a:off x="2426464" y="2550830"/>
            <a:ext cx="341376" cy="3413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0F91C4F3-57C3-4528-8991-F6782E1E6C6F}"/>
              </a:ext>
            </a:extLst>
          </p:cNvPr>
          <p:cNvSpPr/>
          <p:nvPr/>
        </p:nvSpPr>
        <p:spPr>
          <a:xfrm>
            <a:off x="2426464" y="255083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5" name="Text 36">
            <a:extLst>
              <a:ext uri="{FF2B5EF4-FFF2-40B4-BE49-F238E27FC236}">
                <a16:creationId xmlns:a16="http://schemas.microsoft.com/office/drawing/2014/main" id="{296142A3-B614-4EE2-AE5D-612DE7511B7D}"/>
              </a:ext>
            </a:extLst>
          </p:cNvPr>
          <p:cNvSpPr/>
          <p:nvPr/>
        </p:nvSpPr>
        <p:spPr>
          <a:xfrm>
            <a:off x="3066392" y="2563022"/>
            <a:ext cx="685865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JWT token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ellenőrzés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(middleware) →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userId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kiolvasás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6" name="Shape 37">
            <a:extLst>
              <a:ext uri="{FF2B5EF4-FFF2-40B4-BE49-F238E27FC236}">
                <a16:creationId xmlns:a16="http://schemas.microsoft.com/office/drawing/2014/main" id="{9E53CA81-432F-485B-A2B6-508583E3B58A}"/>
              </a:ext>
            </a:extLst>
          </p:cNvPr>
          <p:cNvSpPr/>
          <p:nvPr/>
        </p:nvSpPr>
        <p:spPr>
          <a:xfrm>
            <a:off x="2426464" y="3136046"/>
            <a:ext cx="341376" cy="3413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B278A6B3-E800-45D6-BD25-B7462DB25003}"/>
              </a:ext>
            </a:extLst>
          </p:cNvPr>
          <p:cNvSpPr/>
          <p:nvPr/>
        </p:nvSpPr>
        <p:spPr>
          <a:xfrm>
            <a:off x="2426464" y="3136046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8" name="Text 39">
            <a:extLst>
              <a:ext uri="{FF2B5EF4-FFF2-40B4-BE49-F238E27FC236}">
                <a16:creationId xmlns:a16="http://schemas.microsoft.com/office/drawing/2014/main" id="{43FD87A3-A503-454C-B577-1715CBD536A3}"/>
              </a:ext>
            </a:extLst>
          </p:cNvPr>
          <p:cNvSpPr/>
          <p:nvPr/>
        </p:nvSpPr>
        <p:spPr>
          <a:xfrm>
            <a:off x="3066391" y="3148238"/>
            <a:ext cx="658190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Létezik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'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in_progress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'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 → orders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tábla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lekérdezés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9" name="Shape 40">
            <a:extLst>
              <a:ext uri="{FF2B5EF4-FFF2-40B4-BE49-F238E27FC236}">
                <a16:creationId xmlns:a16="http://schemas.microsoft.com/office/drawing/2014/main" id="{0A88FD1A-144B-40BC-8346-C22D2CC4D399}"/>
              </a:ext>
            </a:extLst>
          </p:cNvPr>
          <p:cNvSpPr/>
          <p:nvPr/>
        </p:nvSpPr>
        <p:spPr>
          <a:xfrm>
            <a:off x="2426464" y="3721262"/>
            <a:ext cx="341376" cy="34137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0" name="Text 41">
            <a:extLst>
              <a:ext uri="{FF2B5EF4-FFF2-40B4-BE49-F238E27FC236}">
                <a16:creationId xmlns:a16="http://schemas.microsoft.com/office/drawing/2014/main" id="{54D3F9AC-85C2-4FCE-BD9F-C3B2E9F328A0}"/>
              </a:ext>
            </a:extLst>
          </p:cNvPr>
          <p:cNvSpPr/>
          <p:nvPr/>
        </p:nvSpPr>
        <p:spPr>
          <a:xfrm>
            <a:off x="2426464" y="372126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1" name="Text 42">
            <a:extLst>
              <a:ext uri="{FF2B5EF4-FFF2-40B4-BE49-F238E27FC236}">
                <a16:creationId xmlns:a16="http://schemas.microsoft.com/office/drawing/2014/main" id="{A6D2884F-F286-45BA-853A-3120B05D4864}"/>
              </a:ext>
            </a:extLst>
          </p:cNvPr>
          <p:cNvSpPr/>
          <p:nvPr/>
        </p:nvSpPr>
        <p:spPr>
          <a:xfrm>
            <a:off x="3066392" y="3733454"/>
            <a:ext cx="72350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Nem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→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új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orders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sor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INSERT (status='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in_progress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')</a:t>
            </a:r>
          </a:p>
        </p:txBody>
      </p:sp>
      <p:sp>
        <p:nvSpPr>
          <p:cNvPr id="72" name="Shape 43">
            <a:extLst>
              <a:ext uri="{FF2B5EF4-FFF2-40B4-BE49-F238E27FC236}">
                <a16:creationId xmlns:a16="http://schemas.microsoft.com/office/drawing/2014/main" id="{7984A3CF-555F-4549-90D2-8A2D1B8B6AB0}"/>
              </a:ext>
            </a:extLst>
          </p:cNvPr>
          <p:cNvSpPr/>
          <p:nvPr/>
        </p:nvSpPr>
        <p:spPr>
          <a:xfrm>
            <a:off x="2426464" y="4306478"/>
            <a:ext cx="341376" cy="34137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3" name="Text 44">
            <a:extLst>
              <a:ext uri="{FF2B5EF4-FFF2-40B4-BE49-F238E27FC236}">
                <a16:creationId xmlns:a16="http://schemas.microsoft.com/office/drawing/2014/main" id="{8D09970C-045A-41DD-A612-138953D8103D}"/>
              </a:ext>
            </a:extLst>
          </p:cNvPr>
          <p:cNvSpPr/>
          <p:nvPr/>
        </p:nvSpPr>
        <p:spPr>
          <a:xfrm>
            <a:off x="2426464" y="430647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4" name="Text 45">
            <a:extLst>
              <a:ext uri="{FF2B5EF4-FFF2-40B4-BE49-F238E27FC236}">
                <a16:creationId xmlns:a16="http://schemas.microsoft.com/office/drawing/2014/main" id="{8E234009-99DB-49FF-9C02-6CB9F5BCD1A7}"/>
              </a:ext>
            </a:extLst>
          </p:cNvPr>
          <p:cNvSpPr/>
          <p:nvPr/>
        </p:nvSpPr>
        <p:spPr>
          <a:xfrm>
            <a:off x="3066391" y="4318670"/>
            <a:ext cx="734863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Készlet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ellenőrzés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stock &gt;=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már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kosárban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+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kért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mennyiség</a:t>
            </a:r>
            <a:r>
              <a:rPr lang="en-US" sz="11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33" dirty="0"/>
          </a:p>
        </p:txBody>
      </p:sp>
      <p:sp>
        <p:nvSpPr>
          <p:cNvPr id="75" name="Shape 46">
            <a:extLst>
              <a:ext uri="{FF2B5EF4-FFF2-40B4-BE49-F238E27FC236}">
                <a16:creationId xmlns:a16="http://schemas.microsoft.com/office/drawing/2014/main" id="{32815790-B06A-4728-A1E5-B5E0140124E6}"/>
              </a:ext>
            </a:extLst>
          </p:cNvPr>
          <p:cNvSpPr/>
          <p:nvPr/>
        </p:nvSpPr>
        <p:spPr>
          <a:xfrm>
            <a:off x="2426464" y="4891694"/>
            <a:ext cx="341376" cy="34137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6" name="Text 47">
            <a:extLst>
              <a:ext uri="{FF2B5EF4-FFF2-40B4-BE49-F238E27FC236}">
                <a16:creationId xmlns:a16="http://schemas.microsoft.com/office/drawing/2014/main" id="{B422C389-9ED2-4030-8F01-DD7C777ADEAA}"/>
              </a:ext>
            </a:extLst>
          </p:cNvPr>
          <p:cNvSpPr/>
          <p:nvPr/>
        </p:nvSpPr>
        <p:spPr>
          <a:xfrm>
            <a:off x="2426464" y="4891694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77" name="Text 48">
            <a:extLst>
              <a:ext uri="{FF2B5EF4-FFF2-40B4-BE49-F238E27FC236}">
                <a16:creationId xmlns:a16="http://schemas.microsoft.com/office/drawing/2014/main" id="{2A66162F-836A-4C28-B943-4E8B5D48233A}"/>
              </a:ext>
            </a:extLst>
          </p:cNvPr>
          <p:cNvSpPr/>
          <p:nvPr/>
        </p:nvSpPr>
        <p:spPr>
          <a:xfrm>
            <a:off x="3066391" y="4903886"/>
            <a:ext cx="691580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DUPLICATE KEY UPDATE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order_items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→ quantity += new</a:t>
            </a:r>
          </a:p>
        </p:txBody>
      </p:sp>
      <p:sp>
        <p:nvSpPr>
          <p:cNvPr id="78" name="Shape 49">
            <a:extLst>
              <a:ext uri="{FF2B5EF4-FFF2-40B4-BE49-F238E27FC236}">
                <a16:creationId xmlns:a16="http://schemas.microsoft.com/office/drawing/2014/main" id="{59997BBC-9AEB-448E-8061-E79F0763001E}"/>
              </a:ext>
            </a:extLst>
          </p:cNvPr>
          <p:cNvSpPr/>
          <p:nvPr/>
        </p:nvSpPr>
        <p:spPr>
          <a:xfrm>
            <a:off x="2426464" y="5476910"/>
            <a:ext cx="341376" cy="3413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50">
            <a:extLst>
              <a:ext uri="{FF2B5EF4-FFF2-40B4-BE49-F238E27FC236}">
                <a16:creationId xmlns:a16="http://schemas.microsoft.com/office/drawing/2014/main" id="{447643E0-A318-4332-8E6F-6B3EF6F4D69F}"/>
              </a:ext>
            </a:extLst>
          </p:cNvPr>
          <p:cNvSpPr/>
          <p:nvPr/>
        </p:nvSpPr>
        <p:spPr>
          <a:xfrm>
            <a:off x="2426464" y="547691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80" name="Text 51">
            <a:extLst>
              <a:ext uri="{FF2B5EF4-FFF2-40B4-BE49-F238E27FC236}">
                <a16:creationId xmlns:a16="http://schemas.microsoft.com/office/drawing/2014/main" id="{066A0CEA-7CFD-4D9D-85B5-E88D7EF526AC}"/>
              </a:ext>
            </a:extLst>
          </p:cNvPr>
          <p:cNvSpPr/>
          <p:nvPr/>
        </p:nvSpPr>
        <p:spPr>
          <a:xfrm>
            <a:off x="3066391" y="5489102"/>
            <a:ext cx="6099143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orders.total_price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frissítés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SUM(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order_items.subtotal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81" name="Image 0" descr="preencoded.png">
            <a:extLst>
              <a:ext uri="{FF2B5EF4-FFF2-40B4-BE49-F238E27FC236}">
                <a16:creationId xmlns:a16="http://schemas.microsoft.com/office/drawing/2014/main" id="{46B6C040-E0FE-4554-871B-9F072B2A6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42" y="1308562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Működés – </a:t>
            </a:r>
            <a:r>
              <a:rPr lang="hu-HU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 leadás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720890" y="1339454"/>
            <a:ext cx="9013372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720889" y="1339454"/>
            <a:ext cx="9013372" cy="487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173" y="1386906"/>
            <a:ext cx="36576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274603" y="1321857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 leadás folyamata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2416288" y="2056150"/>
            <a:ext cx="341376" cy="3413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416288" y="204395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056216" y="2056150"/>
            <a:ext cx="583572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Felhasználó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kitölti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számlázási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adatokat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név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cím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stb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.)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2416288" y="2629174"/>
            <a:ext cx="341376" cy="3413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416288" y="2629174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3056216" y="2641366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POST /api/orders/place → JWT-vel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azonosítva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2416288" y="3214390"/>
            <a:ext cx="341376" cy="3413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416288" y="321439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3056215" y="3226582"/>
            <a:ext cx="658190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Aktuális 'in_progress'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kosár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megkeresése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2416288" y="3799606"/>
            <a:ext cx="341376" cy="34137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416288" y="3799606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3056216" y="3811798"/>
            <a:ext cx="72350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order_items-ből stock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csökkentés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2416288" y="4384822"/>
            <a:ext cx="341376" cy="34137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2416288" y="438482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3056215" y="4397014"/>
            <a:ext cx="734863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orders tábla frissítése: status = 'confirmed', billing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adatok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mentése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2416288" y="4970038"/>
            <a:ext cx="341376" cy="34137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416288" y="497003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3056215" y="4982230"/>
            <a:ext cx="616729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Válasz: { success: true, order_id } → frontend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visszajelzés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2416288" y="5555254"/>
            <a:ext cx="341376" cy="3413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2416288" y="5555254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3056215" y="5567446"/>
            <a:ext cx="6099143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Admin GET /api/orders/all → státusz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frissítés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lehetséges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4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Munkamegosztás &amp; Szerepek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542553"/>
            <a:ext cx="3535680" cy="477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7680" y="1463040"/>
            <a:ext cx="3535680" cy="83627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499616"/>
            <a:ext cx="3291840" cy="358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AAAAA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BACKEND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1828800"/>
            <a:ext cx="3291840" cy="41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Naményi</a:t>
            </a:r>
            <a:r>
              <a:rPr lang="hu-HU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Dominik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102983"/>
            <a:ext cx="3194304" cy="3703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REST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API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végpontok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Controller</a:t>
            </a:r>
            <a:endParaRPr lang="hu-HU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JWT middleware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integráció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Multer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képfeltöltés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kezelése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Cypress E2E API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tesztek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8160" y="1565376"/>
            <a:ext cx="3535680" cy="477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8160" y="1463040"/>
            <a:ext cx="3535680" cy="83627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0080" y="1499616"/>
            <a:ext cx="3291840" cy="358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AAAAA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FRONTEND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50080" y="1828800"/>
            <a:ext cx="3291840" cy="41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Mészáros Nándor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98848" y="2299318"/>
            <a:ext cx="3194304" cy="3703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architektúra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tervezése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izájn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megvalósítása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API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végpontok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hívása</a:t>
            </a: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Kosár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és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rendelés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UI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Admin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felület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Reszponz</a:t>
            </a:r>
            <a:r>
              <a:rPr lang="hu-HU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ivitás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68640" y="1463040"/>
            <a:ext cx="3535680" cy="477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68640" y="1463040"/>
            <a:ext cx="3535680" cy="83627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560" y="1499616"/>
            <a:ext cx="3291840" cy="358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AAAAA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ADATBÁZIS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90560" y="1828800"/>
            <a:ext cx="3291840" cy="41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Közösen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90560" y="1499616"/>
            <a:ext cx="3194304" cy="3779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Adatbázis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tervezése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Táblák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kapcsolato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08000" indent="-108000">
              <a:spcAft>
                <a:spcPts val="2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Adatbázis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elkészítés</a:t>
            </a: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Projektszervezési eszközök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48578" y="1354121"/>
            <a:ext cx="4505592" cy="219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48578" y="1358780"/>
            <a:ext cx="4505592" cy="666672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600" y="1481915"/>
            <a:ext cx="459692" cy="42424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9054" y="1410421"/>
            <a:ext cx="3230425" cy="363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Git / GitHub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879054" y="1751797"/>
            <a:ext cx="3230425" cy="24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Verziókezelés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34394" y="1846814"/>
            <a:ext cx="4591525" cy="169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hu-HU" sz="1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</a:t>
            </a:r>
            <a:r>
              <a:rPr lang="en-US" sz="16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erziókezelése</a:t>
            </a:r>
            <a:endParaRPr lang="hu-HU" sz="16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en-US" sz="1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Branch-</a:t>
            </a:r>
            <a:r>
              <a:rPr lang="en-US" sz="16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alapú</a:t>
            </a:r>
            <a:r>
              <a:rPr lang="en-US" sz="1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fejlesztés</a:t>
            </a:r>
            <a:endParaRPr lang="hu-HU" sz="16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en-US" sz="16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Társ</a:t>
            </a:r>
            <a:r>
              <a:rPr lang="en-US" sz="1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munkájának</a:t>
            </a:r>
            <a:r>
              <a:rPr lang="en-US" sz="1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követése</a:t>
            </a:r>
            <a:endParaRPr lang="hu-HU" sz="16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88048" y="1358781"/>
            <a:ext cx="4505592" cy="21838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88048" y="1358780"/>
            <a:ext cx="4505592" cy="663839"/>
          </a:xfrm>
          <a:prstGeom prst="rect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352" y="1480700"/>
            <a:ext cx="435616" cy="4224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4224" y="1419740"/>
            <a:ext cx="3230424" cy="36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Discord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834224" y="1761116"/>
            <a:ext cx="3230424" cy="24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Kommunikáció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249007" y="2004956"/>
            <a:ext cx="4038031" cy="1489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Napi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kommunikáció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Képernyőmegosztás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Fájlok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megosztása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Hang/video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hívások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248578" y="3953729"/>
            <a:ext cx="4505592" cy="22059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248578" y="3959192"/>
            <a:ext cx="4505592" cy="670560"/>
          </a:xfrm>
          <a:prstGeom prst="rect">
            <a:avLst/>
          </a:prstGeom>
          <a:solidFill>
            <a:srgbClr val="6264A7"/>
          </a:solidFill>
          <a:ln w="12700">
            <a:solidFill>
              <a:srgbClr val="6264A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4368" y="4038035"/>
            <a:ext cx="371924" cy="4267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7156" y="3953729"/>
            <a:ext cx="3230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Microsoft Teams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927156" y="4295105"/>
            <a:ext cx="323042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Kommunikáció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1356600" y="4599059"/>
            <a:ext cx="4038031" cy="1447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ommunikáció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Fájl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megosztás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Feladat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követés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220006" y="3927426"/>
            <a:ext cx="4473633" cy="2205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20006" y="3933151"/>
            <a:ext cx="4473633" cy="670565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470" y="4073155"/>
            <a:ext cx="467914" cy="42672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66183" y="4017367"/>
            <a:ext cx="3207510" cy="36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Messenger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866183" y="4359966"/>
            <a:ext cx="3207510" cy="243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Kommunikáció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277650" y="4838509"/>
            <a:ext cx="4009388" cy="835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hu-HU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Ü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zenetváltás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Gyors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egyeztetés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llipszis 52">
            <a:extLst>
              <a:ext uri="{FF2B5EF4-FFF2-40B4-BE49-F238E27FC236}">
                <a16:creationId xmlns:a16="http://schemas.microsoft.com/office/drawing/2014/main" id="{A2DD8621-25CC-4318-9345-D77534D6AE2E}"/>
              </a:ext>
            </a:extLst>
          </p:cNvPr>
          <p:cNvSpPr/>
          <p:nvPr/>
        </p:nvSpPr>
        <p:spPr>
          <a:xfrm>
            <a:off x="4719816" y="1442908"/>
            <a:ext cx="6692900" cy="4813300"/>
          </a:xfrm>
          <a:prstGeom prst="ellipse">
            <a:avLst/>
          </a:prstGeom>
          <a:solidFill>
            <a:srgbClr val="008FFA">
              <a:alpha val="40000"/>
            </a:srgbClr>
          </a:solidFill>
          <a:ln>
            <a:solidFill>
              <a:srgbClr val="008F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" name="Ellipszis 51">
            <a:extLst>
              <a:ext uri="{FF2B5EF4-FFF2-40B4-BE49-F238E27FC236}">
                <a16:creationId xmlns:a16="http://schemas.microsoft.com/office/drawing/2014/main" id="{500498A5-7A85-4086-9D90-D78440CB805F}"/>
              </a:ext>
            </a:extLst>
          </p:cNvPr>
          <p:cNvSpPr/>
          <p:nvPr/>
        </p:nvSpPr>
        <p:spPr>
          <a:xfrm>
            <a:off x="728980" y="1442908"/>
            <a:ext cx="6692900" cy="4813300"/>
          </a:xfrm>
          <a:prstGeom prst="ellipse">
            <a:avLst/>
          </a:prstGeom>
          <a:solidFill>
            <a:srgbClr val="B0DD7F">
              <a:alpha val="52941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80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Fejlesztési lehetőségek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47A074BC-8FCE-4C17-8A02-74FEF7AE26E2}"/>
              </a:ext>
            </a:extLst>
          </p:cNvPr>
          <p:cNvSpPr txBox="1"/>
          <p:nvPr/>
        </p:nvSpPr>
        <p:spPr>
          <a:xfrm>
            <a:off x="3264951" y="1528222"/>
            <a:ext cx="1620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endParaRPr lang="hu-HU" sz="36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zövegdoboz 54">
            <a:extLst>
              <a:ext uri="{FF2B5EF4-FFF2-40B4-BE49-F238E27FC236}">
                <a16:creationId xmlns:a16="http://schemas.microsoft.com/office/drawing/2014/main" id="{17CA27EA-AD83-47BF-8AD4-EB4572EB5AF9}"/>
              </a:ext>
            </a:extLst>
          </p:cNvPr>
          <p:cNvSpPr txBox="1"/>
          <p:nvPr/>
        </p:nvSpPr>
        <p:spPr>
          <a:xfrm>
            <a:off x="7601416" y="1515078"/>
            <a:ext cx="1210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hu-HU" sz="36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64E136A6-6553-4877-A0C2-7F6F366B1BC1}"/>
              </a:ext>
            </a:extLst>
          </p:cNvPr>
          <p:cNvSpPr txBox="1"/>
          <p:nvPr/>
        </p:nvSpPr>
        <p:spPr>
          <a:xfrm>
            <a:off x="1671666" y="2558782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Felhasználókezelés</a:t>
            </a:r>
          </a:p>
        </p:txBody>
      </p:sp>
      <p:sp>
        <p:nvSpPr>
          <p:cNvPr id="57" name="Szövegdoboz 56">
            <a:extLst>
              <a:ext uri="{FF2B5EF4-FFF2-40B4-BE49-F238E27FC236}">
                <a16:creationId xmlns:a16="http://schemas.microsoft.com/office/drawing/2014/main" id="{7647B542-4403-4F3A-9565-40BA749E0915}"/>
              </a:ext>
            </a:extLst>
          </p:cNvPr>
          <p:cNvSpPr txBox="1"/>
          <p:nvPr/>
        </p:nvSpPr>
        <p:spPr>
          <a:xfrm>
            <a:off x="5022850" y="3059668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hu-HU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service</a:t>
            </a:r>
          </a:p>
        </p:txBody>
      </p: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91897246-9D06-47A6-95B4-07DB0FF04D0A}"/>
              </a:ext>
            </a:extLst>
          </p:cNvPr>
          <p:cNvSpPr txBox="1"/>
          <p:nvPr/>
        </p:nvSpPr>
        <p:spPr>
          <a:xfrm>
            <a:off x="7985315" y="2529721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Vélemény</a:t>
            </a:r>
            <a:r>
              <a:rPr lang="hu-HU" dirty="0"/>
              <a:t> </a:t>
            </a:r>
            <a:r>
              <a:rPr lang="hu-HU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írása</a:t>
            </a:r>
          </a:p>
        </p:txBody>
      </p:sp>
      <p:sp>
        <p:nvSpPr>
          <p:cNvPr id="59" name="Szövegdoboz 58">
            <a:extLst>
              <a:ext uri="{FF2B5EF4-FFF2-40B4-BE49-F238E27FC236}">
                <a16:creationId xmlns:a16="http://schemas.microsoft.com/office/drawing/2014/main" id="{B8567B86-D72D-4CE5-AC6F-6C31B96EFCBE}"/>
              </a:ext>
            </a:extLst>
          </p:cNvPr>
          <p:cNvSpPr txBox="1"/>
          <p:nvPr/>
        </p:nvSpPr>
        <p:spPr>
          <a:xfrm>
            <a:off x="1094691" y="3449508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Vélemény kezelés</a:t>
            </a:r>
          </a:p>
        </p:txBody>
      </p:sp>
      <p:sp>
        <p:nvSpPr>
          <p:cNvPr id="60" name="Szövegdoboz 59">
            <a:extLst>
              <a:ext uri="{FF2B5EF4-FFF2-40B4-BE49-F238E27FC236}">
                <a16:creationId xmlns:a16="http://schemas.microsoft.com/office/drawing/2014/main" id="{A512A84D-EE57-4065-AC68-C87B6FEC3214}"/>
              </a:ext>
            </a:extLst>
          </p:cNvPr>
          <p:cNvSpPr txBox="1"/>
          <p:nvPr/>
        </p:nvSpPr>
        <p:spPr>
          <a:xfrm>
            <a:off x="4829096" y="3915554"/>
            <a:ext cx="2693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Több kép termékenként</a:t>
            </a:r>
          </a:p>
        </p:txBody>
      </p:sp>
      <p:sp>
        <p:nvSpPr>
          <p:cNvPr id="61" name="Szövegdoboz 60">
            <a:extLst>
              <a:ext uri="{FF2B5EF4-FFF2-40B4-BE49-F238E27FC236}">
                <a16:creationId xmlns:a16="http://schemas.microsoft.com/office/drawing/2014/main" id="{894461FE-7EDA-4C72-BCDE-1A8736281BA9}"/>
              </a:ext>
            </a:extLst>
          </p:cNvPr>
          <p:cNvSpPr txBox="1"/>
          <p:nvPr/>
        </p:nvSpPr>
        <p:spPr>
          <a:xfrm>
            <a:off x="8912095" y="3429000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Bankkártyás fizetés</a:t>
            </a:r>
          </a:p>
        </p:txBody>
      </p:sp>
      <p:sp>
        <p:nvSpPr>
          <p:cNvPr id="62" name="Szövegdoboz 61">
            <a:extLst>
              <a:ext uri="{FF2B5EF4-FFF2-40B4-BE49-F238E27FC236}">
                <a16:creationId xmlns:a16="http://schemas.microsoft.com/office/drawing/2014/main" id="{C90981BE-F7E2-4028-B2BF-5F15E1DD6AC6}"/>
              </a:ext>
            </a:extLst>
          </p:cNvPr>
          <p:cNvSpPr txBox="1"/>
          <p:nvPr/>
        </p:nvSpPr>
        <p:spPr>
          <a:xfrm>
            <a:off x="7635041" y="4515813"/>
            <a:ext cx="2595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Termékösszehasonlítás</a:t>
            </a:r>
          </a:p>
        </p:txBody>
      </p:sp>
    </p:spTree>
    <p:extLst>
      <p:ext uri="{BB962C8B-B14F-4D97-AF65-F5344CB8AC3E}">
        <p14:creationId xmlns:p14="http://schemas.microsoft.com/office/powerpoint/2010/main" val="82945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6720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5280" y="0"/>
            <a:ext cx="42672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09800"/>
            <a:ext cx="1072896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 a figyelmet!</a:t>
            </a:r>
            <a:endParaRPr lang="en-US" sz="5333" dirty="0"/>
          </a:p>
        </p:txBody>
      </p:sp>
      <p:sp>
        <p:nvSpPr>
          <p:cNvPr id="6" name="Text 4"/>
          <p:cNvSpPr/>
          <p:nvPr/>
        </p:nvSpPr>
        <p:spPr>
          <a:xfrm>
            <a:off x="731520" y="3335383"/>
            <a:ext cx="1072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NAMERO 1  •  Mészáros Nándor &amp; Naményi Dominik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Vizsgaprojekt  •  2025</a:t>
            </a:r>
            <a:endParaRPr lang="en-US" sz="1467" dirty="0"/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TM04033929[[fn=Pala]]</Template>
  <TotalTime>143</TotalTime>
  <Words>806</Words>
  <Application>Microsoft Office PowerPoint</Application>
  <PresentationFormat>Szélesvásznú</PresentationFormat>
  <Paragraphs>254</Paragraphs>
  <Slides>13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Calisto MT</vt:lpstr>
      <vt:lpstr>Consolas</vt:lpstr>
      <vt:lpstr>Wingdings 2</vt:lpstr>
      <vt:lpstr>Pala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NAMERO 1</dc:title>
  <dc:creator>Meszaros Nandor</dc:creator>
  <cp:lastModifiedBy>Mészáros Nándor</cp:lastModifiedBy>
  <cp:revision>297</cp:revision>
  <dcterms:created xsi:type="dcterms:W3CDTF">2026-03-23T06:45:17Z</dcterms:created>
  <dcterms:modified xsi:type="dcterms:W3CDTF">2026-04-16T21:07:42Z</dcterms:modified>
</cp:coreProperties>
</file>